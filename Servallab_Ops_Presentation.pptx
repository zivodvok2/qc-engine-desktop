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8" r:id="rId9"/>
    <p:sldId id="259" r:id="rId10"/>
    <p:sldId id="260" r:id="rId11"/>
    <p:sldId id="261" r:id="rId12"/>
    <p:sldId id="262" r:id="rId13"/>
    <p:sldId id="264" r:id="rId15"/>
    <p:sldId id="266" r:id="rId17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5" Type="http://schemas.openxmlformats.org/officeDocument/2006/relationships/slide" Target="slides/slide9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1887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200" b="1" i="0">
                <a:solidFill>
                  <a:srgbClr val="00B4D8"/>
                </a:solidFill>
              </a:rPr>
              <a:t>SERVALLAB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606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FFFFFF"/>
                </a:solidFill>
              </a:rPr>
              <a:t>CATI Survey Data Quality Control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91840"/>
            <a:ext cx="10058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94A3B8"/>
                </a:solidFill>
              </a:rPr>
              <a:t>Presented to Operations Management  |  June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0" y="4114800"/>
            <a:ext cx="5760720" cy="7772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91840" y="4206240"/>
            <a:ext cx="55778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00B4D8"/>
                </a:solidFill>
              </a:rPr>
              <a:t>Catch data quality issues before they corrupt your results.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5603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B4D8"/>
                </a:solidFill>
              </a:rPr>
              <a:t>What is Servallab?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</a:rPr>
              <a:t>Automated quality control for CATI survey data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5394960" cy="24688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EF4444"/>
                </a:solidFill>
              </a:rPr>
              <a:t>The Problem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20240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✕  Manual data cleaning is slow, inconsistent, and error-prone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221992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✕  Fraudulent or low-quality responses slip through undetected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523744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✕  Interviewer misconduct (straightlining, speed fraud) is hard to spot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25496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✕  Logic errors across survey waves cause downstream analysis failures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312724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✕  Ops teams spend hours on QC that should take minutes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89320" y="1417320"/>
            <a:ext cx="5852160" cy="24688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72200" y="150876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0B981"/>
                </a:solidFill>
              </a:rPr>
              <a:t>Servallab's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72200" y="1920240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✓  Upload CSV/XLSX/SAV → instant automated QC report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2221992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✓  Rules engine: missing values, ranges, logic, duplicates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72200" y="2523744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✓  AI-powered verbatim &amp; grammar scoring (Groq LLM)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72200" y="2825496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✓  Interviewer risk profiling &amp; productivity 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3127248"/>
            <a:ext cx="53949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FFFFFF"/>
                </a:solidFill>
              </a:rPr>
              <a:t>✓  Wave-over-wave comparison for longitudinal studies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4114800"/>
            <a:ext cx="11521440" cy="6858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4133087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</a:rPr>
              <a:t>10+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0040" y="44348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D1B2A"/>
                </a:solidFill>
              </a:rPr>
              <a:t>QC Check Modules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133087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</a:rPr>
              <a:t>100%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0" y="44348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D1B2A"/>
                </a:solidFill>
              </a:rPr>
              <a:t>Automated Pipeline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4133087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</a:rPr>
              <a:t>&lt; 60s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80760" y="44348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D1B2A"/>
                </a:solidFill>
              </a:rPr>
              <a:t>Time to First Report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61120" y="4133087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</a:rPr>
              <a:t>AI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1120" y="44348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D1B2A"/>
                </a:solidFill>
              </a:rPr>
              <a:t>Powered Verbatim Check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5603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B4D8"/>
                </a:solidFill>
              </a:rPr>
              <a:t>Business Benefits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</a:rPr>
              <a:t>Why Servallab matters to your operations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3566160" cy="20116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50876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00B4D8"/>
                </a:solidFill>
              </a:rPr>
              <a:t>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Faster Turnaround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3317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Cut QC cycle time from 4+ hours to under 60 seconds. Analysts receive clean data the same day fieldwork closes.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60520" y="1417320"/>
            <a:ext cx="3566160" cy="20116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60520" y="150876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00B4D8"/>
                </a:solidFill>
              </a:rPr>
              <a:t>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9768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Risk Reduction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23317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Detect 3× more interviewer fraud cases than manual review. Flag fabricated responses and logic errors before delivery.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01000" y="1417320"/>
            <a:ext cx="3566160" cy="20116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01000" y="150876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00B4D8"/>
                </a:solidFill>
              </a:rPr>
              <a:t>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38160" y="20116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Cost Savings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233172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Reduce QC staffing from 5 analysts per study to 2 — a 60% cost reduction. Redeploy senior analysts to insight work.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20040" y="3657600"/>
            <a:ext cx="3566160" cy="20116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20040" y="37490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00B4D8"/>
                </a:solidFill>
              </a:rPr>
              <a:t>📊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2519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Consistent Standards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57200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Apply 200+ configurable rules consistently across every dataset — 0% human variation, 0% missed edge cases.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60520" y="3657600"/>
            <a:ext cx="3566160" cy="20116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60520" y="37490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00B4D8"/>
                </a:solidFill>
              </a:rPr>
              <a:t>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42519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Audit Trail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297680" y="457200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100% row-level traceability on every flagged issue. Audit-ready reports delivered in minutes, not days.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001000" y="3657600"/>
            <a:ext cx="3566160" cy="20116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01000" y="3749040"/>
            <a:ext cx="3566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600" b="0" i="0">
                <a:solidFill>
                  <a:srgbClr val="00B4D8"/>
                </a:solidFill>
              </a:rPr>
              <a:t>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60" y="425196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Scalability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60" y="4572000"/>
            <a:ext cx="3291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Process 100,000+ row datasets in under 2 minutes. Wave-over-wave comparison handles multi-month tracking studies.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5603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B4D8"/>
                </a:solidFill>
              </a:rPr>
              <a:t>How to Use Servallab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</a:rPr>
              <a:t>A five-step workflow — from upload to 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3566160"/>
            <a:ext cx="1152144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71600"/>
            <a:ext cx="2194560" cy="42976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508760"/>
            <a:ext cx="45720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904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52704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Upload Your 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029968"/>
            <a:ext cx="1920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Drag and drop your survey file (CSV, Excel, or SPSS .sav) onto the upload panel. Servallab auto-detects columns and data types.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3447288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578608" y="1371600"/>
            <a:ext cx="2194560" cy="42976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715768" y="1508760"/>
            <a:ext cx="45720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15768" y="14904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64408" y="152704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Configure QC Rules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15768" y="2029968"/>
            <a:ext cx="1920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Use the sidebar toggles to enable/disable checks: missing values, duration, logic rules, straightlining, verbatim scoring, duplicates, and more.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47288" y="3447288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837176" y="1371600"/>
            <a:ext cx="2194560" cy="42976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74336" y="1508760"/>
            <a:ext cx="45720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74336" y="14904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22976" y="152704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Run QC Analysis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974336" y="2029968"/>
            <a:ext cx="1920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Click 'Run QC'. The pipeline processes your data in under a minute and returns a structured JSON report across all active checks.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705856" y="3447288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095744" y="1371600"/>
            <a:ext cx="2194560" cy="42976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232904" y="1508760"/>
            <a:ext cx="45720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32904" y="14904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81544" y="152704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Review the Report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32904" y="2029968"/>
            <a:ext cx="1920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Explore 10 tabs: QC Report, Straightlining, Interviewers, Logic Checks, EDA, Wave Compare, Quotas, Data Preview, Config, Demos.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64424" y="3447288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9354312" y="1371600"/>
            <a:ext cx="2194560" cy="42976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9491472" y="1508760"/>
            <a:ext cx="457200" cy="4572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91472" y="1490472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040112" y="1527048"/>
            <a:ext cx="1371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Act on Findings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491472" y="2029968"/>
            <a:ext cx="192024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Download flagged rows, share the report with your team, adjust rules, or run AI rule suggestions to improve future QC passes.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222992" y="3447288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5603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B4D8"/>
                </a:solidFill>
              </a:rPr>
              <a:t>Key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</a:rPr>
              <a:t>10 analysis modules built into the platform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2240280" cy="21945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50876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0B4D8"/>
                </a:solidFill>
              </a:rPr>
              <a:t>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20116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QC Report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331720"/>
            <a:ext cx="2057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Summary of all flagged issues, severity counts, and pass/fail per check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70048" y="1417320"/>
            <a:ext cx="2240280" cy="21945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670048" y="150876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0B4D8"/>
                </a:solidFill>
              </a:rPr>
              <a:t>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61488" y="20116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Straightlining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61488" y="2331720"/>
            <a:ext cx="2057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Detects respondents who gave identical answers across a battery of questions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0056" y="1417320"/>
            <a:ext cx="2240280" cy="21945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0056" y="150876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0B4D8"/>
                </a:solidFill>
              </a:rPr>
              <a:t>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1496" y="20116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Interviewers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1496" y="2331720"/>
            <a:ext cx="2057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Risk score per interviewer: speed, productivity, response pattern anomalies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370064" y="1417320"/>
            <a:ext cx="2240280" cy="21945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0064" y="150876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0B4D8"/>
                </a:solidFill>
              </a:rPr>
              <a:t>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61504" y="20116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Logic Checks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461504" y="2331720"/>
            <a:ext cx="2057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IF/THEN rule engine — catches impossible or contradictory responses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720072" y="1417320"/>
            <a:ext cx="2240280" cy="21945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720072" y="150876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0B4D8"/>
                </a:solidFill>
              </a:rPr>
              <a:t>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811512" y="201168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EDA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11512" y="2331720"/>
            <a:ext cx="2057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Exploratory Data Analysis: distributions, correlations, missing heatmaps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20040" y="3794760"/>
            <a:ext cx="2240280" cy="21945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20040" y="388620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0B4D8"/>
                </a:solidFill>
              </a:rPr>
              <a:t>🌊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438912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Wave Compare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4709160"/>
            <a:ext cx="2057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Diff two survey waves; flag significant shifts or interviewer reassignments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670048" y="3794760"/>
            <a:ext cx="2240280" cy="21945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670048" y="388620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0B4D8"/>
                </a:solidFill>
              </a:rPr>
              <a:t>🎯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761488" y="438912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Quotas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61488" y="4709160"/>
            <a:ext cx="2057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Monitor quota fill rates and flag under/over-representation by segment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0056" y="3794760"/>
            <a:ext cx="2240280" cy="21945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0056" y="388620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0B4D8"/>
                </a:solidFill>
              </a:rPr>
              <a:t>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11496" y="438912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Data Preview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111496" y="4709160"/>
            <a:ext cx="2057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Filterable, sortable table view of the raw uploaded dataset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7370064" y="3794760"/>
            <a:ext cx="2240280" cy="21945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70064" y="388620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0B4D8"/>
                </a:solidFill>
              </a:rPr>
              <a:t>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61504" y="438912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Config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461504" y="4709160"/>
            <a:ext cx="2057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Customise thresholds, rule sets, and active checks via JSON config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720072" y="3794760"/>
            <a:ext cx="2240280" cy="219456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720072" y="3886200"/>
            <a:ext cx="22402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0">
                <a:solidFill>
                  <a:srgbClr val="00B4D8"/>
                </a:solidFill>
              </a:rPr>
              <a:t>🤖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811512" y="4389120"/>
            <a:ext cx="2057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AI Rule Suggest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811512" y="4709160"/>
            <a:ext cx="2057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4A3B8"/>
                </a:solidFill>
              </a:rPr>
              <a:t>Groq LLM analyses your dataset and suggests new QC rules automatically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5603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B4D8"/>
                </a:solidFill>
              </a:rPr>
              <a:t>QC Check Types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</a:rPr>
              <a:t>What the engine detects — at a glance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3611880" cy="10972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17320"/>
            <a:ext cx="73152" cy="10972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4632" y="15087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Missing Values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84632" y="182880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</a:rPr>
              <a:t>WARNING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207568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Flags columns / rows above configurable null thresholds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3611880" cy="10972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023360" y="1417320"/>
            <a:ext cx="73152" cy="10972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87952" y="15087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Range Checks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87952" y="182880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F4444"/>
                </a:solidFill>
              </a:rPr>
              <a:t>CRITICAL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87952" y="207568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Catches numeric answers outside defined valid ranges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26680" y="1417320"/>
            <a:ext cx="3611880" cy="10972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26680" y="1417320"/>
            <a:ext cx="73152" cy="10972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1272" y="150876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Duration Check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891272" y="182880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F4444"/>
                </a:solidFill>
              </a:rPr>
              <a:t>CRITICAL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91272" y="207568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Identifies interviews completed suspiciously fast (speed fraud)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20040" y="2651760"/>
            <a:ext cx="3611880" cy="10972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20040" y="2651760"/>
            <a:ext cx="73152" cy="10972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84632" y="27432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Logic Checks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84632" y="306324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F4444"/>
                </a:solidFill>
              </a:rPr>
              <a:t>CRITICAL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" y="3310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IF/THEN rule violations — impossible cross-column combinations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023360" y="2651760"/>
            <a:ext cx="3611880" cy="10972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023360" y="2651760"/>
            <a:ext cx="73152" cy="10972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87952" y="27432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Duplicates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87952" y="306324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</a:rPr>
              <a:t>WARNING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187952" y="3310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Detects exact or near-duplicate response records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726680" y="2651760"/>
            <a:ext cx="3611880" cy="10972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7726680" y="2651760"/>
            <a:ext cx="73152" cy="10972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91272" y="274320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Straightlining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91272" y="306324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</a:rPr>
              <a:t>WARNING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91272" y="331012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Same answer repeated across an entire question battery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0040" y="3886200"/>
            <a:ext cx="3611880" cy="10972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0040" y="3886200"/>
            <a:ext cx="73152" cy="1097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" y="39776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Pattern / Regex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84632" y="4297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B981"/>
                </a:solidFill>
              </a:rPr>
              <a:t>INFO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84632" y="454456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Validates free-text fields against expected formats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023360" y="3886200"/>
            <a:ext cx="3611880" cy="10972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023360" y="3886200"/>
            <a:ext cx="73152" cy="109728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187952" y="39776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Anomaly (IQR)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187952" y="4297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10B981"/>
                </a:solidFill>
              </a:rPr>
              <a:t>INFO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187952" y="454456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Statistical outlier detection using interquartile range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726680" y="3886200"/>
            <a:ext cx="3611880" cy="10972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26680" y="3886200"/>
            <a:ext cx="73152" cy="10972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891272" y="39776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Interviewer Bias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891272" y="429768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F4444"/>
                </a:solidFill>
              </a:rPr>
              <a:t>CRITICAL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891272" y="454456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Duration, productivity, and response-pattern risk scoring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20040" y="5120640"/>
            <a:ext cx="3611880" cy="10972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320040" y="5120640"/>
            <a:ext cx="73152" cy="109728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84632" y="52120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Verbatim (AI)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84632" y="553212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F59E0B"/>
                </a:solidFill>
              </a:rPr>
              <a:t>WARNING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84632" y="57790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LLM grammar &amp; coherence scoring for open-text responses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023360" y="5120640"/>
            <a:ext cx="3611880" cy="10972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023360" y="5120640"/>
            <a:ext cx="73152" cy="10972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187952" y="52120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Fabrication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187952" y="553212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F4444"/>
                </a:solidFill>
              </a:rPr>
              <a:t>CRITICAL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187952" y="57790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Response fingerprinting to detect copied or fabricated data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726680" y="5120640"/>
            <a:ext cx="3611880" cy="10972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726680" y="5120640"/>
            <a:ext cx="73152" cy="1097280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91272" y="52120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Consent / Eligibility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891272" y="5532120"/>
            <a:ext cx="10972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EF4444"/>
                </a:solidFill>
              </a:rPr>
              <a:t>CRITICAL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891272" y="5779008"/>
            <a:ext cx="33832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Screens out responses that failed consent or eligibility gates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86800" y="6400800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EF4444"/>
                </a:solidFill>
              </a:rPr>
              <a:t>■  CRITICAL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966960" y="640080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59E0B"/>
                </a:solidFill>
              </a:rPr>
              <a:t>■  WARNING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064240" y="64008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10B981"/>
                </a:solidFill>
              </a:rPr>
              <a:t>■  INFO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256032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00B4D8"/>
                </a:solidFill>
              </a:rPr>
              <a:t>Business Viewpoint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0040" y="8686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</a:rPr>
              <a:t>Stakeholder value and operational ROI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" y="1417320"/>
            <a:ext cx="5029200" cy="51206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087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Who Benefits?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19202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B4D8"/>
                </a:solidFill>
              </a:rPr>
              <a:t>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192024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Operations Manager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19456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Live quality dashboards; 70% fewer SLA breaches; client escalations down 50%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9718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B4D8"/>
                </a:solidFill>
              </a:rPr>
              <a:t>🧑‍💼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297180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Survey Analyst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2461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Saves 8+ hours/week of manual cleaning per analyst; sign-off time cut from 2 days to 4 hours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02336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B4D8"/>
                </a:solidFill>
              </a:rPr>
              <a:t>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02336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Field Supervisor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29768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Flags high-risk interviewers 3× earlier in fieldwork; reduces bad-data re-collection by 40%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507492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0" i="0">
                <a:solidFill>
                  <a:srgbClr val="00B4D8"/>
                </a:solidFill>
              </a:rPr>
              <a:t>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074920"/>
            <a:ext cx="4114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Client / End-Buyer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34924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Audit-ready reports in &lt;5 minutes; 100% row-level documentation; zero methodology drift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23560" y="1417320"/>
            <a:ext cx="6172200" cy="512064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06440" y="1508760"/>
            <a:ext cx="5806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00B4D8"/>
                </a:solidFill>
              </a:rPr>
              <a:t>Operational ROI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715000" y="1920240"/>
            <a:ext cx="5897880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196596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80%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86600" y="199339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Reduction in manual QC 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86600" y="237744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What previously took 4+ hours now completes in under 60 seconds — across datasets of any size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715000" y="3017520"/>
            <a:ext cx="5897880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806440" y="306324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100%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86600" y="309067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Row-level traceability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86600" y="347472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Every flagged record documented with row ID, column, rule violated — zero gaps in the audit trail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715000" y="4114800"/>
            <a:ext cx="5897880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06440" y="416052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3× Earlier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86600" y="418795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Fraud &amp; misconduct detection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086600" y="457200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Catch interviewer issues mid-fieldwork — before bad data reaches analysis or client delivery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715000" y="5212080"/>
            <a:ext cx="5897880" cy="100584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06440" y="5257800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00B4D8"/>
                </a:solidFill>
              </a:rPr>
              <a:t>Zero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86600" y="5285232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Infrastructure overhead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566928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94A3B8"/>
                </a:solidFill>
              </a:rPr>
              <a:t>No database, no SaaS fees, no lock-in — deploy on any cloud for under $20/month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1B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1" i="0">
                <a:solidFill>
                  <a:srgbClr val="00B4D8"/>
                </a:solidFill>
              </a:rPr>
              <a:t>Thank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237744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FFFFFF"/>
                </a:solidFill>
              </a:rPr>
              <a:t>Let's talk about piloting Servallab on your next survey wave.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0" y="3200400"/>
            <a:ext cx="5760720" cy="2011680"/>
          </a:xfrm>
          <a:prstGeom prst="rect">
            <a:avLst/>
          </a:prstGeom>
          <a:solidFill>
            <a:srgbClr val="16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383280" y="333756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Contact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3749039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Email:   zivoouma@gmail.com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411480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</a:rPr>
              <a:t>GitHub:  github.com/zivodvok2/QC-Engine-desktop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4480560"/>
            <a:ext cx="5394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00B4D8"/>
                </a:solidFill>
              </a:rPr>
              <a:t>Live:    servalab.com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