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0B4D8"/>
                </a:solidFill>
              </a:rPr>
              <a:t>SERVALLAB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CATI Survey Data Quality Control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94A3B8"/>
                </a:solidFill>
              </a:rPr>
              <a:t>Presented to Operations Management  |  June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4114800"/>
            <a:ext cx="576072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420624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00B4D8"/>
                </a:solidFill>
              </a:rPr>
              <a:t>Catch data quality issues before they corrupt your results.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What we'll cover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577840" cy="1234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731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What is Servallab?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9202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Project overview &amp; the problem it solves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577840" cy="1234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731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5087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Business Benefits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9202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ROI, risk reduction &amp; operational wins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5577840" cy="1234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71800"/>
            <a:ext cx="731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97180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How to Use Servallab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3832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Step-by-step user guide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834640"/>
            <a:ext cx="5577840" cy="1234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971800"/>
            <a:ext cx="731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97180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Key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3832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10 modules, AI assist, wave compare &amp; more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97680"/>
            <a:ext cx="5577840" cy="1234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434840"/>
            <a:ext cx="731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43484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Technical Architecture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84632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Stack, pipeline &amp; deployment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4297680"/>
            <a:ext cx="5577840" cy="1234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434840"/>
            <a:ext cx="731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43484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Summary &amp; 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84632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Rollout plan &amp; contacts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What is Servallab?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Automated quality control for CATI survey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394960" cy="24688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F4444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✕  Manual data cleaning is slow, inconsistent, and error-prone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219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✕  Fraudulent or low-quality responses slip through undetected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237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✕  Interviewer misconduct (straightlining, speed fraud) is hard to spot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25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✕  Logic errors across survey waves cause downstream analysis failures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272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✕  Ops teams spend hours on QC that should take minutes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417320"/>
            <a:ext cx="5852160" cy="24688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508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</a:rPr>
              <a:t>Servallab's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92024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Upload CSV/XLSX/SAV → instant automated QC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22199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Rules engine: missing values, ranges, logic, duplicates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52374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AI-powered verbatim &amp; grammar scoring (Groq LLM)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82549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Interviewer risk profiling &amp; productivity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12724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Wave-over-wave comparison for longitudinal studies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114800"/>
            <a:ext cx="11521440" cy="685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133087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10+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434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D1B2A"/>
                </a:solidFill>
              </a:rPr>
              <a:t>QC Check Modules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33087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434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D1B2A"/>
                </a:solidFill>
              </a:rPr>
              <a:t>Automated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133087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&lt; 60s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4434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D1B2A"/>
                </a:solidFill>
              </a:rPr>
              <a:t>Time to First 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4133087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4434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D1B2A"/>
                </a:solidFill>
              </a:rPr>
              <a:t>Powered Verbatim Check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Business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Why Servallab matters to your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356616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0876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4D8"/>
                </a:solidFill>
              </a:rPr>
              <a:t>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Faster Turnaround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Reduce QC cycle time from days to minutes. Analysts get clean data faster, accelerating insight delivery.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417320"/>
            <a:ext cx="356616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0520" y="150876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4D8"/>
                </a:solidFill>
              </a:rPr>
              <a:t>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Risk Reduction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Catch interviewer fraud, data fabrication, and logic errors before they corrupt results or damage client trust.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417320"/>
            <a:ext cx="356616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150876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4D8"/>
                </a:solidFill>
              </a:rPr>
              <a:t>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Cost Savings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Eliminate hours of manual data cleaning. Redeploy QC analyst time to higher-value interpretation work.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657600"/>
            <a:ext cx="356616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7490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4D8"/>
                </a:solidFill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519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Consistent Standards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Rule-based checks apply the same standard to every dataset — no human variation, no missed edge cases.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0520" y="3657600"/>
            <a:ext cx="356616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0520" y="37490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4D8"/>
                </a:solidFill>
              </a:rPr>
              <a:t>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2519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7200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Every flagged issue is logged with row-level evidence. Full transparency for client reporting and compliance.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3657600"/>
            <a:ext cx="356616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37490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4D8"/>
                </a:solidFill>
              </a:rPr>
              <a:t>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2519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57200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Handle large longitudinal studies with wave-over-wave comparison. Scales with your survey volume.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How to Use Servallab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A five-step workflow — from upload to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3566160"/>
            <a:ext cx="115214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2194560" cy="4297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270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Upload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9968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Drag and drop your survey file (CSV, Excel, or SPSS .sav) onto the upload panel. Servallab auto-detects columns and data types.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447288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78608" y="1371600"/>
            <a:ext cx="2194560" cy="4297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15768" y="150876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15768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15270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Configure QC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2029968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Use the sidebar toggles to enable/disable checks: missing values, duration, logic rules, straightlining, verbatim scoring, duplicates, and more.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8" y="3447288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37176" y="1371600"/>
            <a:ext cx="2194560" cy="4297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4336" y="150876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74336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15270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Run QC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4336" y="2029968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Click 'Run QC'. The pipeline processes your data in under a minute and returns a structured JSON report across all active checks.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05856" y="3447288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95744" y="1371600"/>
            <a:ext cx="2194560" cy="4297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32904" y="150876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2904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81544" y="15270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Review the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2904" y="2029968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Explore 10 tabs: QC Report, Straightlining, Interviewers, Logic Checks, EDA, Wave Compare, Quotas, Data Preview, Config, Demos.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64424" y="3447288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54312" y="1371600"/>
            <a:ext cx="2194560" cy="4297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91472" y="150876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91472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15270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Act on Findings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91472" y="2029968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Download flagged rows, share the report with your team, adjust rules, or run AI rule suggestions to improve future QC passes.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22992" y="3447288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10 analysis modules built into the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087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116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QC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3172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Summary of all flagged issues, severity counts, and pass/fail per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0048" y="141732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0048" y="15087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20116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Straightlining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33172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Detects respondents who gave identical answers across a battery of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6" y="141732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0056" y="15087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1496" y="20116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Interviewers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1496" y="233172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Risk score per interviewer: speed, productivity, response pattern anomalies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4" y="141732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0064" y="15087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0116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Logic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233172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IF/THEN rule engine — catches impossible or contradictory responses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20072" y="141732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15087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1512" y="20116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1512" y="233172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Exploratory Data Analysis: distributions, correlations, missing heatmaps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79476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88620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3891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Wave Compare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70916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Diff two survey waves; flag significant shifts or interviewer reassignments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048" y="379476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0048" y="388620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61488" y="43891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Quotas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61488" y="470916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Monitor quota fill rates and flag under/over-representation by segment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0056" y="379476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0056" y="388620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1496" y="43891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Data Preview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11496" y="470916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Filterable, sortable table view of the raw uploaded dataset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70064" y="379476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70064" y="388620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1504" y="43891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Config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1504" y="470916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Customise thresholds, rule sets, and active checks via JSON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20072" y="379476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20072" y="388620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11512" y="43891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AI Rule Suggest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11512" y="470916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Groq LLM analyses your dataset and suggests new QC rules automatically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QC Check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What the engine detects —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73152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508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Missing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8288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WARNING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0756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Flags columns / rows above configurable null thresholds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23360" y="141732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7952" y="1508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Range Checks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7952" y="18288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CRITICAL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7952" y="20756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Catches numeric answers outside defined valid ranges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80" y="141732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26680" y="141732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1272" y="1508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Duration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18288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CRITICAL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20756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Identifies interviews completed suspiciously fast (speed fraud)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65176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65176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2743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Logic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" y="30632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CRITICAL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" y="3310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IF/THEN rule violations — impossible cross-column combinations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65176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23360" y="2651760"/>
            <a:ext cx="73152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87952" y="2743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Duplicates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87952" y="30632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WARNING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7952" y="3310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Detects exact or near-duplicate response records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26680" y="265176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26680" y="2651760"/>
            <a:ext cx="73152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91272" y="2743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Straightlining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1272" y="30632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WARNING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91272" y="3310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Same answer repeated across an entire question battery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88620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3886200"/>
            <a:ext cx="73152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" y="3977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Pattern / Regex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" y="4297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B981"/>
                </a:solidFill>
              </a:rPr>
              <a:t>INFO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" y="45445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Validates free-text fields against expected formats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23360" y="388620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23360" y="3886200"/>
            <a:ext cx="73152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87952" y="3977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Anomaly (IQR)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87952" y="4297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B981"/>
                </a:solidFill>
              </a:rPr>
              <a:t>INFO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7952" y="45445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Statistical outlier detection using interquartile range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26680" y="388620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0" y="388620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91272" y="3977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Interviewer Bias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91272" y="4297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CRITICAL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91272" y="45445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Duration, productivity, and response-pattern risk scoring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512064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0040" y="5120640"/>
            <a:ext cx="73152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4632" y="5212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Verbatim (AI)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4632" y="55321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WARNING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" y="57790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LLM grammar &amp; coherence scoring for open-text responses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23360" y="512064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023360" y="512064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87952" y="5212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Fabrication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87952" y="55321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CRITICAL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87952" y="57790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Response fingerprinting to detect copied or fabricated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26680" y="512064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26680" y="512064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91272" y="5212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Consent / Eligibility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1272" y="55321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CRITICAL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91272" y="57790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Screens out responses that failed consent or eligibility gates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F4444"/>
                </a:solidFill>
              </a:rPr>
              <a:t>■  CRITICAL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6696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</a:rPr>
              <a:t>■  WARNING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</a:rPr>
              <a:t>■  INFO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Modern, API-first, cloud-deployable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3749039" cy="50292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6304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659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React + TypeScript + 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Tailwind CSS (dark theme)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37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Zustand state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233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Axios API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091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10 analysis tabs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949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Deployed via Vercel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3749039" cy="50292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1417320"/>
            <a:ext cx="3749039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60" y="146304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Backend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19659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FastAPI (Python 3.12)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651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Pydantic request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337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In-memory job registry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0233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Auto temp-file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7091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Groq AI 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3949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Deployed via Render / Fly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80" y="1417320"/>
            <a:ext cx="3749039" cy="50292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83880" y="1417320"/>
            <a:ext cx="3749039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80" y="146304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QC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19659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Load: CSV / XLSX / SAV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2651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Clean: null normalisation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33375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Validate: RuleEngine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0233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12+ BaseCheck subclasses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7091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Report: JSON → React UI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53949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CLI headless mode available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492240"/>
            <a:ext cx="11521440" cy="256032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Deployment: Frontend → Vercel  |  Backend → Render/Fly  |  API key: VITE_API_URL  |  DB: stateless (file-based, no DB required)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Business Viewpoint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Stakeholder value and operational ROI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029200" cy="51206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Who Benefits?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B4D8"/>
                </a:solidFill>
              </a:rPr>
              <a:t>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Operations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Live visibility into data quality; SLA confidence; fewer client escalations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B4D8"/>
                </a:solidFill>
              </a:rPr>
              <a:t>🧑‍💼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97180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Survey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46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Automated QC removes repetitive cleaning; faster sign-off on datasets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0233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B4D8"/>
                </a:solidFill>
              </a:rPr>
              <a:t>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Field Supervisor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97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Interviewer risk scores highlight training needs and misconduct early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74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B4D8"/>
                </a:solidFill>
              </a:rPr>
              <a:t>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07492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Client / End-Buyer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49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Higher-confidence data; audit-ready reports; consistent methodology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23560" y="1417320"/>
            <a:ext cx="6172200" cy="51206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440" y="1508760"/>
            <a:ext cx="5806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Operational ROI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15000" y="1920240"/>
            <a:ext cx="5897880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96596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199339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Reduction in manual QC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3774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What previously took 4+ hours now runs in under 60 seconds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0" y="3017520"/>
            <a:ext cx="5897880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306324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09067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Row-level traceability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347472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Every flagged record is documented — full audit trail for clients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0" y="4114800"/>
            <a:ext cx="5897880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416052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Early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18795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Fraud &amp; misconduct detection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57200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Catch interviewer issues during fieldwork, not after data delivery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0" y="5212080"/>
            <a:ext cx="5897880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52578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Zero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528523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Infrastructure overhead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56692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No database required — stateless API, deploy on any cloud provider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Summary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Where we go from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394960" cy="51206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What We've Seen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Servallab automates end-to-end CATI QC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12+ checks covering fraud, logic, and data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AI-powered verbatim and rule-suggestion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Interviewer risk profiling built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Wave-over-wave longitudinal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09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Fast, browser-based — no install required for analysts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2578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Full audit trail and downloadable reports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Cloud-deployed, stateless, scales with your data volume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1417320"/>
            <a:ext cx="5852160" cy="51206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508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Proposed Next Steps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1965960"/>
            <a:ext cx="557784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011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Week 1–2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01168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Pilot with one active survey dataset — validate check outputs against known issues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2926080"/>
            <a:ext cx="557784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971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97180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Analyst training session — live walkthrough of all 10 tabs and rule configuration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3886200"/>
            <a:ext cx="557784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39319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Week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39319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Customise logic rules and thresholds for your specific survey instruments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4846320"/>
            <a:ext cx="557784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48920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Month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489204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Roll out to full ops team — integrate QC sign-off into fieldwork SOP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5806440"/>
            <a:ext cx="557784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8521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Ongoing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585216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AI rule suggestions reviewed quarterly; new check modules added per roadmap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00B4D8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</a:rPr>
              <a:t>Let's talk about piloting Servallab on your next survey wave.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76072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33375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Contact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749039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Email:   zivoouma@gmail.com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41148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GitHub:  github.com/zivodvok2/QC-Engine-desktop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4805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4D8"/>
                </a:solidFill>
              </a:rPr>
              <a:t>Live:    servalab.com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