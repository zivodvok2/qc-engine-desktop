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SERVALLAB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DFF"/>
                </a:solidFill>
                <a:latin typeface="Calibri"/>
              </a:rPr>
              <a:t>CATI Survey Data Quality Control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Calibri"/>
              </a:rPr>
              <a:t>Presented to Operations Management  | 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2B6C"/>
                </a:solidFill>
                <a:latin typeface="Calibri"/>
              </a:rPr>
              <a:t>Catch data quality issues before they corrupt your results.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2560320" cy="15087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931920"/>
            <a:ext cx="256032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096511"/>
            <a:ext cx="23774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2B6C"/>
                </a:solidFill>
                <a:latin typeface="Calibri"/>
              </a:rPr>
              <a:t>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57575"/>
                </a:solidFill>
                <a:latin typeface="Calibri"/>
              </a:rPr>
              <a:t>QC Check Modules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931920"/>
            <a:ext cx="2560320" cy="15087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3931920"/>
            <a:ext cx="256032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4096511"/>
            <a:ext cx="23774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2B6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4736592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57575"/>
                </a:solidFill>
                <a:latin typeface="Calibri"/>
              </a:rPr>
              <a:t>Automated 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931920"/>
            <a:ext cx="2560320" cy="15087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931920"/>
            <a:ext cx="256032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096511"/>
            <a:ext cx="23774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2B6C"/>
                </a:solidFill>
                <a:latin typeface="Calibri"/>
              </a:rPr>
              <a:t>&lt; 60s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736592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57575"/>
                </a:solidFill>
                <a:latin typeface="Calibri"/>
              </a:rPr>
              <a:t>Time to First Report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3931920"/>
            <a:ext cx="2560320" cy="15087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3931920"/>
            <a:ext cx="256032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4096511"/>
            <a:ext cx="23774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2B6C"/>
                </a:solidFill>
                <a:latin typeface="Calibri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736592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57575"/>
                </a:solidFill>
                <a:latin typeface="Calibri"/>
              </a:rPr>
              <a:t>Powered Verbatim Check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Is Servallab?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Automated quality control for CATI survey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39496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394960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789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62828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2222"/>
                </a:solidFill>
                <a:latin typeface="Calibri"/>
              </a:rPr>
              <a:t>✕  Manual data cleaning is slow, inconsistent, and error-prone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2222"/>
                </a:solidFill>
                <a:latin typeface="Calibri"/>
              </a:rPr>
              <a:t>✕  Fraudulent or low-quality responses slip through undetected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73552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2222"/>
                </a:solidFill>
                <a:latin typeface="Calibri"/>
              </a:rPr>
              <a:t>✕  Interviewer misconduct (straightlining, speed fraud) is hard to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4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2222"/>
                </a:solidFill>
                <a:latin typeface="Calibri"/>
              </a:rPr>
              <a:t>✕  Logic errors across survey waves cause downstream analysis failures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82896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2222"/>
                </a:solidFill>
                <a:latin typeface="Calibri"/>
              </a:rPr>
              <a:t>✕  Ops teams spend hours on QC that should take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960120"/>
            <a:ext cx="539496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960120"/>
            <a:ext cx="5394960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0789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70"/>
                </a:solidFill>
                <a:latin typeface="Calibri"/>
              </a:rPr>
              <a:t>Servallab's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64208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63A"/>
                </a:solidFill>
                <a:latin typeface="Calibri"/>
              </a:rPr>
              <a:t>✓  Upload CSV/XLSX/SAV → instant automated QC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63A"/>
                </a:solidFill>
                <a:latin typeface="Calibri"/>
              </a:rPr>
              <a:t>✓  Rules engine: missing values, ranges, logic, duplicates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73552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63A"/>
                </a:solidFill>
                <a:latin typeface="Calibri"/>
              </a:rPr>
              <a:t>✓  AI-powered verbatim &amp; grammar scoring (Groq LLM)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78224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63A"/>
                </a:solidFill>
                <a:latin typeface="Calibri"/>
              </a:rPr>
              <a:t>✓  Interviewer risk profiling &amp; productivity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82896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63A"/>
                </a:solidFill>
                <a:latin typeface="Calibri"/>
              </a:rPr>
              <a:t>✓  Wave-over-wave comparison for longitudinal studies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Business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Why Servallab matters to your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2560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365760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155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0C0"/>
                </a:solidFill>
                <a:latin typeface="Calibri"/>
              </a:rPr>
              <a:t>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111556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Faster Turnaround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401568" cy="184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Cut QC cycle time from 4+ hours to under 60 seconds. Analysts receive clean data the same day fieldwork closes.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005840"/>
            <a:ext cx="3657600" cy="2560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005840"/>
            <a:ext cx="3657600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1155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62828"/>
                </a:solidFill>
                <a:latin typeface="Calibri"/>
              </a:rPr>
              <a:t>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11556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Risk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627632"/>
            <a:ext cx="3401568" cy="184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Detect 3× more interviewer fraud cases than manual review. Flag fabricated responses and logic errors before delivery.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5" y="1005840"/>
            <a:ext cx="3657600" cy="2560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66175" y="1005840"/>
            <a:ext cx="3657600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3336" y="11155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070"/>
                </a:solidFill>
                <a:latin typeface="Calibri"/>
              </a:rPr>
              <a:t>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407" y="111556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Cost Savings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1627632"/>
            <a:ext cx="3401568" cy="184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Reduce QC staffing from 5 analysts per study to 2 — a 60% cost reduction. Redeploy senior analysts to insight 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3657600" cy="2560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365760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8130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F2B6C"/>
                </a:solidFill>
                <a:latin typeface="Calibri"/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38130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Consistent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25112"/>
            <a:ext cx="3401568" cy="184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Apply 200+ configurable rules consistently across every dataset — 0% human variation, 0% missed edge cases.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3703320"/>
            <a:ext cx="3657600" cy="2560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61688" y="3703320"/>
            <a:ext cx="36576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8130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9A825"/>
                </a:solidFill>
                <a:latin typeface="Calibri"/>
              </a:rP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38130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Audit Trail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325112"/>
            <a:ext cx="3401568" cy="184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100% row-level traceability on every flagged issue. Audit-ready reports delivered in minutes, not days.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66175" y="3703320"/>
            <a:ext cx="3657600" cy="2560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66175" y="3703320"/>
            <a:ext cx="3657600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03336" y="381304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65100"/>
                </a:solidFill>
                <a:latin typeface="Calibri"/>
              </a:rPr>
              <a:t>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7" y="38130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Scalability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4325112"/>
            <a:ext cx="3401568" cy="184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Process 100,000+ row datasets in under 2 minutes. Wave-over-wave comparison handles multi-month tracking studies.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to Use Servallab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 five-step workflow — from upload to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10312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10312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1115568"/>
            <a:ext cx="457200" cy="457200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1247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719072"/>
            <a:ext cx="18836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Upload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249424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Drag and drop your survey file (CSV, Excel, or SPSS .sav) onto the upload panel. Servallab auto-detects columns and data 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005840"/>
            <a:ext cx="210312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70048" y="1005840"/>
            <a:ext cx="210312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93008" y="1115568"/>
            <a:ext cx="457200" cy="457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11247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1719072"/>
            <a:ext cx="18836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Configure QC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9776" y="2249424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Use the sidebar toggles to enable/disable checks: missing values, duration, logic rules, straightlining, verbatim scoring, duplicates,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74336" y="1005840"/>
            <a:ext cx="210312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4336" y="1005840"/>
            <a:ext cx="2103120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97296" y="1115568"/>
            <a:ext cx="457200" cy="45720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7296" y="11247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1719072"/>
            <a:ext cx="18836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Run QC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2249424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Click 'Run QC'. The pipeline processes your data in under a minute and returns a structured report across all active checks.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78624" y="1005840"/>
            <a:ext cx="210312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78624" y="1005840"/>
            <a:ext cx="210312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4" y="1115568"/>
            <a:ext cx="457200" cy="4572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4" y="11247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8352" y="1719072"/>
            <a:ext cx="18836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Review the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249424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Explore 10 tabs: QC Report, Straightlining, Interviewers, Logic Checks, EDA, Wave Compare, Quotas, Data Preview, Config, Demos.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82912" y="1005840"/>
            <a:ext cx="210312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82912" y="1005840"/>
            <a:ext cx="2103120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405872" y="1115568"/>
            <a:ext cx="457200" cy="45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05872" y="11247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1719072"/>
            <a:ext cx="18836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Act on Findings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249424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Download flagged rows, share the report with your team, adjust rules, or run AI rule suggestions to improve future QC passes.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10 analysis modules built into the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5577840" cy="4572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1155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QC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481328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Summary of all flagged issues, severity counts, and pass/fail per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24128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24128"/>
            <a:ext cx="557784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152144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11155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Straightlining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1481328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Detects respondents who gave identical answers across a battery of questions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39696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39696"/>
            <a:ext cx="5577840" cy="4572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26771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2311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Interviewers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596896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Risk score per interviewer: speed, productivity, response pattern anomalies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139696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139696"/>
            <a:ext cx="557784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26771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2311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Logic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596896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IF/THEN rule engine — catches impossible or contradictory responses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55264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255264"/>
            <a:ext cx="5577840" cy="4572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3832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46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EDA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712464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Exploratory Data Analysis: distributions, correlations, missing heatmaps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255264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255264"/>
            <a:ext cx="557784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3832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3346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Wave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3712464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Diff two survey waves; flag significant shifts or interviewer reassignments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370832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370832"/>
            <a:ext cx="5577840" cy="4572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49884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" y="44622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Quotas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828032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Monitor quota fill rates and flag under/over-representation by segment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4370832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4370832"/>
            <a:ext cx="557784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4498848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44622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Data Preview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67728" y="4828032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Filterable, sortable table view of the raw uploaded dataset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486400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486400"/>
            <a:ext cx="5577840" cy="4572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61441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" y="5577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Config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" y="5943600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Customise thresholds, rule sets, and active checks via JSON config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5486400"/>
            <a:ext cx="5577840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9360" y="5486400"/>
            <a:ext cx="557784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561441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02C"/>
                </a:solidFill>
                <a:latin typeface="Calibri"/>
              </a:rPr>
              <a:t>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5577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AI Rule Suggest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7728" y="5943600"/>
            <a:ext cx="4800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Groq LLM analyses your dataset and suggests new QC rules automatically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Manager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Live project tracking across all active surveys — dashboard.servallab.com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658368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058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  <a:latin typeface="Calibri"/>
              </a:rPr>
              <a:t>The Servallab Dashboard is a separate management portal where QC Officers, Supervisors, and Operations Managers track project health in real time across all studies. It connects to the QC Engine — results saved from the engine flow into the dashboard automatically.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55648"/>
            <a:ext cx="3657600" cy="23591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55648"/>
            <a:ext cx="3657600" cy="54864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6537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F2B6C"/>
                </a:solidFill>
                <a:latin typeface="Calibri"/>
              </a:rPr>
              <a:t>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86537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Project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340156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See all active studies at a glance. Wave history, open flag counts, QC completion rates per project.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1755648"/>
            <a:ext cx="3657600" cy="23591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55648"/>
            <a:ext cx="365760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86537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0C0"/>
                </a:solidFill>
                <a:latin typeface="Calibr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86537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Quality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377440"/>
            <a:ext cx="340156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Flag rate trends by check type across waves. Instantly see if data quality is improving or deteriorating between waves.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5" y="1755648"/>
            <a:ext cx="3657600" cy="23591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6175" y="1755648"/>
            <a:ext cx="3657600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3336" y="186537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070"/>
                </a:solidFill>
                <a:latin typeface="Calibri"/>
              </a:rPr>
              <a:t>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7" y="186537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Performance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2377440"/>
            <a:ext cx="340156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Interviewer flag rate history across all projects. Cross-project risk scores, backcheck results, and listen-in outcomes in one 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657600" cy="23591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657600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352544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65100"/>
                </a:solidFill>
                <a:latin typeface="Calibri"/>
              </a:rPr>
              <a:t>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35254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Backcheck &amp; Listen-In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864608"/>
            <a:ext cx="340156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Track backcheck completion rate and error patterns. Log listen-in pass/fail outcomes per supervisor for accountability.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1688" y="4242816"/>
            <a:ext cx="3657600" cy="23591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1688" y="4242816"/>
            <a:ext cx="36576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98848" y="4352544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9A825"/>
                </a:solidFill>
                <a:latin typeface="Calibri"/>
              </a:rPr>
              <a:t>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35254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Wave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864608"/>
            <a:ext cx="340156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Statistical shifts between waves — detect when a new wave has meaningfully different data patterns from the previous one.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66175" y="4242816"/>
            <a:ext cx="3657600" cy="23591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66175" y="4242816"/>
            <a:ext cx="3657600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03336" y="4352544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62828"/>
                </a:solidFill>
                <a:latin typeface="Calibri"/>
              </a:rPr>
              <a:t>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7" y="435254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Calibri"/>
              </a:rPr>
              <a:t>Cancelled Interviews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3336" y="4864608"/>
            <a:ext cx="340156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Log cancellations by reason and interviewer. Monitor refusal rates and identify patterns that indicate data collection problems.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Dashboard — Business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What operations management can track and act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39496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394960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789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02C"/>
                </a:solidFill>
                <a:latin typeface="Calibri"/>
              </a:rPr>
              <a:t>Real-time KPIs (per project)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64208"/>
            <a:ext cx="512064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Calibri"/>
              </a:rPr>
              <a:t>Total records submitted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2996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Track fieldwork progress vs target 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414016"/>
            <a:ext cx="5120640" cy="6858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Calibri"/>
              </a:rPr>
              <a:t>Flag rate this wave vs last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7977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Instant quality trend — up = getting worse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163824"/>
            <a:ext cx="512064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Calibri"/>
              </a:rPr>
              <a:t>Interviewers on HIGH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2958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Who needs urgent supervisor attention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913632"/>
            <a:ext cx="5120640" cy="6858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6849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Calibri"/>
              </a:rPr>
              <a:t>Backcheck completion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Ensure post-data-collection validation is on track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663440"/>
            <a:ext cx="512064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3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Calibri"/>
              </a:rPr>
              <a:t>Listen-in pass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92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Monitor supervisor oversight effectiveness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13248"/>
            <a:ext cx="5120640" cy="6858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6811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Calibri"/>
              </a:rPr>
              <a:t>Cancelled interview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7900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Flag abnormal dropout / refusal spikes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960120"/>
            <a:ext cx="5394960" cy="5394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960120"/>
            <a:ext cx="539496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0789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02C"/>
                </a:solidFill>
                <a:latin typeface="Calibri"/>
              </a:rPr>
              <a:t>Management Actions Enabled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1664208"/>
            <a:ext cx="5120640" cy="6858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17190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Wave sign-off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299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See complete QC pass/fail before releasing data to client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2414016"/>
            <a:ext cx="5120640" cy="6858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2468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Interviewer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7797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Issue feedback letters or suspend interviewers from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163824"/>
            <a:ext cx="5120640" cy="6858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Supervisor accountability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35295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Track which supervisors have backchecked and listened-in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3913632"/>
            <a:ext cx="5120640" cy="6858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3968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Cross-project 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27939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Compare the same interviewer's performance across multiple studies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663440"/>
            <a:ext cx="5120640" cy="6858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471830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Audit trail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0292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Every QC run, flag, and action is logged with timestamps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5413248"/>
            <a:ext cx="5120640" cy="6858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54681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Data export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577900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Download QC summaries, flag tables, and risk reports as CSV/Excel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Interviewer Risk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Automated risk scoring — who to investigate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62179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0584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  <a:latin typeface="Calibri"/>
              </a:rPr>
              <a:t>Every interviewer gets a composite risk score (0–100) combining fabrication flags, duration anomalies, straightlining, and productivity outliers. The score tells supervisors exactly who to check first — no guesswork.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2651760" cy="3108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2651760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84708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Fabrication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26771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62828"/>
                </a:solidFill>
                <a:latin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71216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Sequential IDs, low numeric variance across respondents — strongest signal of invented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737360"/>
            <a:ext cx="2651760" cy="3108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737360"/>
            <a:ext cx="2651760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184708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Duration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26771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65100"/>
                </a:solidFill>
                <a:latin typeface="Calibri"/>
              </a:rPr>
              <a:t>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871216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Interviewer's average interview time is a statistical outlier vs peers. Too fast = rushing / fabricating.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737360"/>
            <a:ext cx="2651760" cy="3108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737360"/>
            <a:ext cx="265176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184708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Straightlining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26771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9A825"/>
                </a:solidFill>
                <a:latin typeface="Calibri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871216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% of the interviewer's respondents who gave identical answers across a rating grid — a sign of not engaging.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1737360"/>
            <a:ext cx="2651760" cy="310896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1737360"/>
            <a:ext cx="265176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184708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Productivity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2267712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70C0"/>
                </a:solidFill>
                <a:latin typeface="Calibri"/>
              </a:rPr>
              <a:t>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2871216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Interview count vs peer IQR. Unusually high = possible ghost interviews to hit targets.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11247120" cy="141732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11247120" cy="45720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C"/>
                </a:solidFill>
                <a:latin typeface="Calibri"/>
              </a:rPr>
              <a:t>Risk Levels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102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🔴 HIGH  ≥60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46811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Urgent — escalate to senior QC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102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A825"/>
                </a:solidFill>
                <a:latin typeface="Calibri"/>
              </a:rPr>
              <a:t>🟡 MEDIUM  30–59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46811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Review and monitor closely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02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70"/>
                </a:solidFill>
                <a:latin typeface="Calibri"/>
              </a:rPr>
              <a:t>🟢 LOW  &lt;30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546811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57575"/>
                </a:solidFill>
                <a:latin typeface="Calibri"/>
              </a:rPr>
              <a:t>Acceptable — standard oversight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4739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Calibri"/>
              </a:rPr>
              <a:t>Performance Metrics tab shows: avg / min / max interview duration per interviewer, daily output heatmap, first and last interview dates.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solidFill>
            <a:srgbClr val="1F2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0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Servallab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90CAF9"/>
                </a:solidFill>
                <a:latin typeface="Calibri"/>
              </a:rPr>
              <a:t>Better Data. Faster.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57575"/>
                </a:solidFill>
                <a:latin typeface="Calibri"/>
              </a:rPr>
              <a:t>servallab.com  ·  dashboard.servallab.com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29000"/>
            <a:ext cx="9445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02C"/>
                </a:solidFill>
                <a:latin typeface="Calibri"/>
              </a:rPr>
              <a:t>▸  Automated QC pipeline — upload, configure, report in &lt; 60 seconds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04487"/>
            <a:ext cx="9445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02C"/>
                </a:solidFill>
                <a:latin typeface="Calibri"/>
              </a:rPr>
              <a:t>▸  10 analysis modules: logic checks, straightlining, fabrication detection, AI verbatim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379976"/>
            <a:ext cx="9445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02C"/>
                </a:solidFill>
                <a:latin typeface="Calibri"/>
              </a:rPr>
              <a:t>▸  Interviewer risk profiling with weighted composite scores (0–100)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55464"/>
            <a:ext cx="9445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02C"/>
                </a:solidFill>
                <a:latin typeface="Calibri"/>
              </a:rPr>
              <a:t>▸  Manager dashboard — multi-project tracking, wave history, backcheck and listen-in logging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30952"/>
            <a:ext cx="9445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02C"/>
                </a:solidFill>
                <a:latin typeface="Calibri"/>
              </a:rPr>
              <a:t>▸  Wave-over-wave comparison with statistical shift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806440"/>
            <a:ext cx="9445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02C"/>
                </a:solidFill>
                <a:latin typeface="Calibri"/>
              </a:rPr>
              <a:t>▸  Audit-ready Excel reports with per-row flag traceability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57575"/>
                </a:solidFill>
                <a:latin typeface="Calibri"/>
              </a:rPr>
              <a:t>github.com/zivodvok2/QC-Engine-desktop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