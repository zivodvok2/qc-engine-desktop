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8" r:id="rId4"/>
    <p:sldId id="259" r:id="rId5"/>
    <p:sldId id="260" r:id="rId6"/>
    <p:sldId id="261" r:id="rId7"/>
    <p:sldId id="262" r:id="rId8"/>
    <p:sldId id="264" r:id="rId9"/>
    <p:sldId id="266" r:id="rId10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00B4D8"/>
                </a:solidFill>
              </a:rPr>
              <a:t>SERVALLAB</a:t>
            </a:r>
            <a:endParaRPr sz="7200" b="1" i="0">
              <a:solidFill>
                <a:srgbClr val="00B4D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FFFFFF"/>
                </a:solidFill>
              </a:rPr>
              <a:t>CATI Survey Data Quality Control Engine</a:t>
            </a:r>
            <a:endParaRPr sz="2400" b="0" i="0">
              <a:solidFill>
                <a:srgbClr val="FFFF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94A3B8"/>
                </a:solidFill>
              </a:rPr>
              <a:t>Presented to Operations Management  |  June 2026</a:t>
            </a:r>
            <a:endParaRPr sz="1400" b="0" i="1">
              <a:solidFill>
                <a:srgbClr val="94A3B8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0" y="4114800"/>
            <a:ext cx="5760720" cy="7772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91840" y="4206240"/>
            <a:ext cx="5577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00B4D8"/>
                </a:solidFill>
              </a:rPr>
              <a:t>Catch data quality issues before they corrupt your results.</a:t>
            </a:r>
            <a:endParaRPr sz="1400" b="0" i="1">
              <a:solidFill>
                <a:srgbClr val="00B4D8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What is Servallab?</a:t>
            </a:r>
            <a:endParaRPr sz="3200" b="1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Automated quality control for CATI survey data</a:t>
            </a:r>
            <a:endParaRPr sz="1400" b="0" i="0">
              <a:solidFill>
                <a:srgbClr val="94A3B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394960" cy="2468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F4444"/>
                </a:solidFill>
              </a:rPr>
              <a:t>The Problem</a:t>
            </a:r>
            <a:endParaRPr sz="1600" b="1" i="0">
              <a:solidFill>
                <a:srgbClr val="EF4444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✕  Manual data cleaning is slow, inconsistent, and error-prone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2221992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✕  Fraudulent or low-quality responses slip through undetected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2920" y="2523744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✕  Interviewer misconduct (straightlining, speed fraud) is hard to spot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8254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✕  Logic errors across survey waves cause downstream analysis failures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2920" y="3127248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✕  Ops teams spend hours on QC that should take minutes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989320" y="1417320"/>
            <a:ext cx="5852160" cy="24688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5087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Servallab's Solution</a:t>
            </a:r>
            <a:endParaRPr sz="1600" b="1" i="0">
              <a:solidFill>
                <a:srgbClr val="10B98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Upload CSV/XLSX/SAV → instant automated QC report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172200" y="2221992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Rules engine: missing values, ranges, logic, duplicates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172200" y="2523744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AI-powered verbatim &amp; grammar scoring (Groq LLM)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172200" y="2825496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Interviewer risk profiling &amp; productivity analysis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172200" y="3127248"/>
            <a:ext cx="5394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✓  Wave-over-wave comparison for longitudinal studies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320040" y="4114800"/>
            <a:ext cx="11521440" cy="6858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41330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10+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20040" y="4434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QC Check Modules</a:t>
            </a:r>
            <a:endParaRPr sz="1000" b="0" i="0">
              <a:solidFill>
                <a:srgbClr val="0D1B2A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200400" y="41330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100%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200400" y="4434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Automated Pipeline</a:t>
            </a:r>
            <a:endParaRPr sz="1000" b="0" i="0">
              <a:solidFill>
                <a:srgbClr val="0D1B2A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80760" y="41330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&lt; 60s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080760" y="4434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Time to First Report</a:t>
            </a:r>
            <a:endParaRPr sz="1000" b="0" i="0">
              <a:solidFill>
                <a:srgbClr val="0D1B2A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961120" y="4133087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AI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0" y="4434840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D1B2A"/>
                </a:solidFill>
              </a:rPr>
              <a:t>Powered Verbatim Check</a:t>
            </a:r>
            <a:endParaRPr sz="1000" b="0" i="0">
              <a:solidFill>
                <a:srgbClr val="0D1B2A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Business Benefits</a:t>
            </a:r>
            <a:endParaRPr sz="3200" b="1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Why Servallab matters to your operations</a:t>
            </a:r>
            <a:endParaRPr sz="1400" b="0" i="0">
              <a:solidFill>
                <a:srgbClr val="94A3B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566160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⏱</a:t>
            </a:r>
            <a:endParaRPr sz="2600" b="0" i="0">
              <a:solidFill>
                <a:srgbClr val="00B4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Faster Turnaround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Cut QC cycle time from 4+ hours to under 60 seconds. Analysts receive clean data the same day fieldwork closes.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160520" y="1417320"/>
            <a:ext cx="3566160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6052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🛡</a:t>
            </a:r>
            <a:endParaRPr sz="2600" b="0" i="0">
              <a:solidFill>
                <a:srgbClr val="00B4D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29768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Risk Reduction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29768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Detect 3× more interviewer fraud cases than manual review. Flag fabricated responses and logic errors before delivery.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001000" y="1417320"/>
            <a:ext cx="3566160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01000" y="150876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💰</a:t>
            </a:r>
            <a:endParaRPr sz="2600" b="0" i="0">
              <a:solidFill>
                <a:srgbClr val="00B4D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138160" y="201168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Cost Savings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38160" y="233172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Reduce QC staffing from 5 analysts per study to 2 — a 60% cost reduction. Redeploy senior analysts to insight work.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20040" y="3657600"/>
            <a:ext cx="3566160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3749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📊</a:t>
            </a:r>
            <a:endParaRPr sz="2600" b="0" i="0">
              <a:solidFill>
                <a:srgbClr val="00B4D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20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Consistent Standards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200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Apply 200+ configurable rules consistently across every dataset — 0% human variation, 0% missed edge cases.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160520" y="3657600"/>
            <a:ext cx="3566160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749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🔍</a:t>
            </a:r>
            <a:endParaRPr sz="2600" b="0" i="0">
              <a:solidFill>
                <a:srgbClr val="00B4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29768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Audit Trail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297680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100% row-level traceability on every flagged issue. Audit-ready reports delivered in minutes, not days.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8001000" y="3657600"/>
            <a:ext cx="3566160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374904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00B4D8"/>
                </a:solidFill>
              </a:rPr>
              <a:t>📈</a:t>
            </a:r>
            <a:endParaRPr sz="2600" b="0" i="0">
              <a:solidFill>
                <a:srgbClr val="00B4D8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13816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Scalability</a:t>
            </a:r>
            <a:endParaRPr sz="14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138160" y="45720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Process 100,000+ row datasets in under 2 minutes. Wave-over-wave comparison handles multi-month tracking studies.</a:t>
            </a:r>
            <a:endParaRPr sz="1000" b="0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How to Use Servallab</a:t>
            </a:r>
            <a:endParaRPr sz="3200" b="1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A five-step workflow — from upload to report</a:t>
            </a:r>
            <a:endParaRPr sz="1400" b="0" i="0">
              <a:solidFill>
                <a:srgbClr val="94A3B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3566160"/>
            <a:ext cx="115214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71600"/>
            <a:ext cx="2194560" cy="4297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5087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1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1527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Upload Your Data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8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Drag and drop your survey file (CSV, Excel, or SPSS .sav) onto the upload panel. Servallab auto-detects columns and data types.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188720" y="3447288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78608" y="1371600"/>
            <a:ext cx="2194560" cy="4297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715768" y="15087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15768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2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264408" y="1527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Configure QC Rules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15768" y="2029968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Use the sidebar toggles to enable/disable checks: missing values, duration, logic rules, straightlining, verbatim scoring, duplicates, and more.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447288" y="3447288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37176" y="1371600"/>
            <a:ext cx="2194560" cy="4297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74336" y="15087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74336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3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5522976" y="1527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Run QC Analysis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74336" y="2029968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Click 'Run QC'. The pipeline processes your data in under a minute and returns a structured JSON report across all active checks.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05856" y="3447288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095744" y="1371600"/>
            <a:ext cx="2194560" cy="4297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232904" y="15087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232904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4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781544" y="1527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Review the Report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32904" y="2029968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Explore 10 tabs: QC Report, Straightlining, Interviewers, Logic Checks, EDA, Wave Compare, Quotas, Data Preview, Config, Demos.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964424" y="3447288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354312" y="1371600"/>
            <a:ext cx="2194560" cy="4297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491472" y="1508760"/>
            <a:ext cx="45720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91472" y="14904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D1B2A"/>
                </a:solidFill>
              </a:rPr>
              <a:t>5</a:t>
            </a:r>
            <a:endParaRPr sz="1800" b="1" i="0">
              <a:solidFill>
                <a:srgbClr val="0D1B2A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10040112" y="1527048"/>
            <a:ext cx="1371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Act on Findings</a:t>
            </a:r>
            <a:endParaRPr sz="1300" b="1" i="0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9491472" y="2029968"/>
            <a:ext cx="1920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Download flagged rows, share the report with your team, adjust rules, or run AI rule suggestions to improve future QC passes.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0222992" y="3447288"/>
            <a:ext cx="292608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Key Features</a:t>
            </a:r>
            <a:endParaRPr sz="3200" b="1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10 analysis modules built into the platform</a:t>
            </a:r>
            <a:endParaRPr sz="1400" b="0" i="0">
              <a:solidFill>
                <a:srgbClr val="94A3B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5087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📋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11480" y="20116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QC Report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11480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Summary of all flagged issues, severity counts, and pass/fail per check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670048" y="141732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0048" y="15087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➡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761488" y="20116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Straightlining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761488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Detects respondents who gave identical answers across a battery of questions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020056" y="141732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0056" y="15087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👤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111496" y="20116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Interviewers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111496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Risk score per interviewer: speed, productivity, response pattern anomalies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70064" y="141732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0064" y="15087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🔗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61504" y="20116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Logic Checks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61504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IF/THEN rule engine — catches impossible or contradictory responses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9720072" y="141732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20072" y="15087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📊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811512" y="20116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EDA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811512" y="233172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Exploratory Data Analysis: distributions, correlations, missing heatmaps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20040" y="379476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8862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🌊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11480" y="4389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Wave Compare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1480" y="470916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Diff two survey waves; flag significant shifts or interviewer reassignments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2670048" y="379476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0048" y="38862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🎯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761488" y="4389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Quotas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761488" y="470916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Monitor quota fill rates and flag under/over-representation by segment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020056" y="379476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0056" y="38862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🗂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111496" y="4389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Data Preview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5111496" y="470916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Filterable, sortable table view of the raw uploaded dataset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7370064" y="379476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70064" y="38862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⚙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461504" y="4389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Config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461504" y="470916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Customise thresholds, rule sets, and active checks via JSON config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720072" y="3794760"/>
            <a:ext cx="2240280" cy="219456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20072" y="388620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00B4D8"/>
                </a:solidFill>
              </a:rPr>
              <a:t>🤖</a:t>
            </a:r>
            <a:endParaRPr sz="2400" b="0" i="0">
              <a:solidFill>
                <a:srgbClr val="00B4D8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9811512" y="438912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AI Rule Suggest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9811512" y="4709160"/>
            <a:ext cx="2057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</a:rPr>
              <a:t>Groq LLM analyses your dataset and suggests new QC rules automatically</a:t>
            </a:r>
            <a:endParaRPr sz="900" b="0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QC Check Types</a:t>
            </a:r>
            <a:endParaRPr sz="3200" b="1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What the engine detects — at a glance</a:t>
            </a:r>
            <a:endParaRPr sz="1400" b="0" i="0">
              <a:solidFill>
                <a:srgbClr val="94A3B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41732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4632" y="1508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Missing Values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4632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WARNING</a:t>
            </a:r>
            <a:endParaRPr sz="800" b="1" i="0">
              <a:solidFill>
                <a:srgbClr val="F59E0B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84632" y="20756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Flags columns / rows above configurable null thresholds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023360" y="141732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141732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7952" y="1508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Range Checks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87952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CRITICAL</a:t>
            </a:r>
            <a:endParaRPr sz="800" b="1" i="0">
              <a:solidFill>
                <a:srgbClr val="EF4444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87952" y="20756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Catches numeric answers outside defined valid ranges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26680" y="141732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26680" y="141732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91272" y="150876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Duration Check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91272" y="182880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CRITICAL</a:t>
            </a:r>
            <a:endParaRPr sz="800" b="1" i="0">
              <a:solidFill>
                <a:srgbClr val="EF4444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891272" y="207568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Identifies interviews completed suspiciously fast (speed fraud)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20040" y="265176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265176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4632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Logic Checks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4632" y="3063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CRITICAL</a:t>
            </a:r>
            <a:endParaRPr sz="800" b="1" i="0">
              <a:solidFill>
                <a:srgbClr val="EF4444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84632" y="3310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IF/THEN rule violations — impossible cross-column combinations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023360" y="265176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023360" y="265176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87952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Duplicates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187952" y="3063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WARNING</a:t>
            </a:r>
            <a:endParaRPr sz="800" b="1" i="0">
              <a:solidFill>
                <a:srgbClr val="F59E0B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187952" y="3310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Detects exact or near-duplicate response records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7726680" y="265176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7726680" y="265176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91272" y="27432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Straightlining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891272" y="306324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WARNING</a:t>
            </a:r>
            <a:endParaRPr sz="800" b="1" i="0">
              <a:solidFill>
                <a:srgbClr val="F59E0B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91272" y="331012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Same answer repeated across an entire question battery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320040" y="388620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20040" y="388620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84632" y="3977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Pattern / Regex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484632" y="4297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INFO</a:t>
            </a:r>
            <a:endParaRPr sz="800" b="1" i="0">
              <a:solidFill>
                <a:srgbClr val="10B981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484632" y="4544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Validates free-text fields against expected formats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4023360" y="388620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023360" y="3886200"/>
            <a:ext cx="73152" cy="10972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87952" y="3977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Anomaly (IQR)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4187952" y="4297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0B981"/>
                </a:solidFill>
              </a:rPr>
              <a:t>INFO</a:t>
            </a:r>
            <a:endParaRPr sz="800" b="1" i="0">
              <a:solidFill>
                <a:srgbClr val="10B98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4187952" y="4544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Statistical outlier detection using interquartile range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726680" y="388620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26680" y="388620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91272" y="397764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Interviewer Bias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7891272" y="429768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CRITICAL</a:t>
            </a:r>
            <a:endParaRPr sz="800" b="1" i="0">
              <a:solidFill>
                <a:srgbClr val="EF4444"/>
              </a:solidFill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7891272" y="454456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Duration, productivity, and response-pattern risk scoring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1" name="Rectangle 50"/>
          <p:cNvSpPr/>
          <p:nvPr/>
        </p:nvSpPr>
        <p:spPr>
          <a:xfrm>
            <a:off x="320040" y="512064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20040" y="5120640"/>
            <a:ext cx="73152" cy="10972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84632" y="5212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Verbatim (AI)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84632" y="5532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WARNING</a:t>
            </a:r>
            <a:endParaRPr sz="800" b="1" i="0">
              <a:solidFill>
                <a:srgbClr val="F59E0B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84632" y="57790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LLM grammar &amp; coherence scoring for open-text responses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56" name="Rectangle 55"/>
          <p:cNvSpPr/>
          <p:nvPr/>
        </p:nvSpPr>
        <p:spPr>
          <a:xfrm>
            <a:off x="4023360" y="512064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023360" y="512064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187952" y="5212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Fabrication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187952" y="5532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CRITICAL</a:t>
            </a:r>
            <a:endParaRPr sz="800" b="1" i="0">
              <a:solidFill>
                <a:srgbClr val="EF4444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187952" y="57790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Response fingerprinting to detect copied or fabricated data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61" name="Rectangle 60"/>
          <p:cNvSpPr/>
          <p:nvPr/>
        </p:nvSpPr>
        <p:spPr>
          <a:xfrm>
            <a:off x="7726680" y="5120640"/>
            <a:ext cx="3611880" cy="10972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7726680" y="5120640"/>
            <a:ext cx="73152" cy="10972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891272" y="52120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Consent / Eligibility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891272" y="5532120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CRITICAL</a:t>
            </a:r>
            <a:endParaRPr sz="800" b="1" i="0">
              <a:solidFill>
                <a:srgbClr val="EF4444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7891272" y="5779008"/>
            <a:ext cx="3383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94A3B8"/>
                </a:solidFill>
              </a:rPr>
              <a:t>Screens out responses that failed consent or eligibility gates</a:t>
            </a:r>
            <a:endParaRPr sz="900" b="0" i="0">
              <a:solidFill>
                <a:srgbClr val="94A3B8"/>
              </a:solidFill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8686800" y="64008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EF4444"/>
                </a:solidFill>
              </a:rPr>
              <a:t>■  CRITICAL</a:t>
            </a:r>
            <a:endParaRPr sz="900" b="0" i="0">
              <a:solidFill>
                <a:srgbClr val="EF4444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9966960" y="64008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59E0B"/>
                </a:solidFill>
              </a:rPr>
              <a:t>■  WARNING</a:t>
            </a:r>
            <a:endParaRPr sz="900" b="0" i="0">
              <a:solidFill>
                <a:srgbClr val="F59E0B"/>
              </a:solidFill>
            </a:endParaRPr>
          </a:p>
        </p:txBody>
      </p:sp>
      <p:sp>
        <p:nvSpPr>
          <p:cNvPr id="68" name="TextBox 67"/>
          <p:cNvSpPr txBox="1"/>
          <p:nvPr/>
        </p:nvSpPr>
        <p:spPr>
          <a:xfrm>
            <a:off x="11064240" y="64008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0B981"/>
                </a:solidFill>
              </a:rPr>
              <a:t>■  INFO</a:t>
            </a:r>
            <a:endParaRPr sz="900" b="0" i="0">
              <a:solidFill>
                <a:srgbClr val="10B98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256032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B4D8"/>
                </a:solidFill>
              </a:rPr>
              <a:t>Business Viewpoint</a:t>
            </a:r>
            <a:endParaRPr sz="3200" b="1" i="0">
              <a:solidFill>
                <a:srgbClr val="00B4D8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86868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4A3B8"/>
                </a:solidFill>
              </a:rPr>
              <a:t>Stakeholder value and operational ROI</a:t>
            </a:r>
            <a:endParaRPr sz="1400" b="0" i="0">
              <a:solidFill>
                <a:srgbClr val="94A3B8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20040" y="1417320"/>
            <a:ext cx="5029200" cy="5120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Who Benefits?</a:t>
            </a:r>
            <a:endParaRPr sz="1600" b="1" i="0">
              <a:solidFill>
                <a:srgbClr val="00B4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👔</a:t>
            </a:r>
            <a:endParaRPr sz="1800" b="0" i="0">
              <a:solidFill>
                <a:srgbClr val="00B4D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5840" y="192024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Operations Manager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05840" y="2194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Live quality dashboards; 70% fewer SLA breaches; client escalations down 50%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02920" y="2971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🧑‍💼</a:t>
            </a:r>
            <a:endParaRPr sz="1800" b="0" i="0">
              <a:solidFill>
                <a:srgbClr val="00B4D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005840" y="297180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Survey Analyst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05840" y="3246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Saves 8+ hours/week of manual cleaning per analyst; sign-off time cut from 2 days to 4 hours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" y="4023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🎙</a:t>
            </a:r>
            <a:endParaRPr sz="1800" b="0" i="0">
              <a:solidFill>
                <a:srgbClr val="00B4D8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05840" y="402336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Field Supervisor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Flags high-risk interviewers 3× earlier in fieldwork; reduces bad-data re-collection by 40%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0292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B4D8"/>
                </a:solidFill>
              </a:rPr>
              <a:t>🤝</a:t>
            </a:r>
            <a:endParaRPr sz="1800" b="0" i="0">
              <a:solidFill>
                <a:srgbClr val="00B4D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05840" y="5074920"/>
            <a:ext cx="4114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Client / End-Buyer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05840" y="5349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Audit-ready reports in &lt;5 minutes; 100% row-level documentation; zero methodology drift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623560" y="1417320"/>
            <a:ext cx="6172200" cy="512064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06440" y="1508760"/>
            <a:ext cx="5806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Operational ROI</a:t>
            </a:r>
            <a:endParaRPr sz="1600" b="1" i="0">
              <a:solidFill>
                <a:srgbClr val="00B4D8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5715000" y="1920240"/>
            <a:ext cx="589788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806440" y="196596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80%</a:t>
            </a:r>
            <a:endParaRPr sz="2600" b="1" i="0">
              <a:solidFill>
                <a:srgbClr val="00B4D8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086600" y="199339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Reduction in manual QC time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086600" y="237744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What previously took 4+ hours now completes in under 60 seconds — across datasets of any size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5715000" y="3017520"/>
            <a:ext cx="589788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06440" y="306324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100%</a:t>
            </a:r>
            <a:endParaRPr sz="2600" b="1" i="0">
              <a:solidFill>
                <a:srgbClr val="00B4D8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086600" y="30906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Row-level traceability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086600" y="347472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Every flagged record documented with row ID, column, rule violated — zero gaps in the audit trail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715000" y="4114800"/>
            <a:ext cx="589788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06440" y="4160520"/>
            <a:ext cx="1188720" cy="768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3× </a:t>
            </a:r>
            <a:r>
              <a:rPr b="1" i="0">
                <a:solidFill>
                  <a:srgbClr val="00B4D8"/>
                </a:solidFill>
              </a:rPr>
              <a:t>Earlier</a:t>
            </a:r>
            <a:endParaRPr b="1" i="0">
              <a:solidFill>
                <a:srgbClr val="00B4D8"/>
              </a:solidFill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7086600" y="418795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Fraud &amp; misconduct detection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086600" y="457200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Catch interviewer issues mid-fieldwork — before bad data reaches analysis or client delivery</a:t>
            </a:r>
            <a:endParaRPr sz="1000" b="0" i="0">
              <a:solidFill>
                <a:srgbClr val="94A3B8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5715000" y="5212080"/>
            <a:ext cx="5897880" cy="10058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806440" y="5257800"/>
            <a:ext cx="1188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0B4D8"/>
                </a:solidFill>
              </a:rPr>
              <a:t>Zero</a:t>
            </a:r>
            <a:endParaRPr sz="2600" b="1" i="0">
              <a:solidFill>
                <a:srgbClr val="00B4D8"/>
              </a:solidFill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7086600" y="528523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Infrastructure overhead</a:t>
            </a:r>
            <a:endParaRPr sz="1200" b="1" i="0">
              <a:solidFill>
                <a:srgbClr val="FFFFFF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7086600" y="5669280"/>
            <a:ext cx="4389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No database, no SaaS fees, no lock-in — deploy on any cloud for under $20/month</a:t>
            </a:r>
            <a:endParaRPr sz="1000" b="0" i="0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00B4D8"/>
                </a:solidFill>
              </a:rPr>
              <a:t>Thank You</a:t>
            </a:r>
            <a:endParaRPr sz="6000" b="1" i="0">
              <a:solidFill>
                <a:srgbClr val="00B4D8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71600" y="23774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FFFFFF"/>
                </a:solidFill>
              </a:rPr>
              <a:t>Let's talk about piloting Servallab on your next survey wave.</a:t>
            </a:r>
            <a:endParaRPr sz="1800" b="0" i="1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200400" y="3200400"/>
            <a:ext cx="5760720" cy="2011680"/>
          </a:xfrm>
          <a:prstGeom prst="rect">
            <a:avLst/>
          </a:prstGeom>
          <a:solidFill>
            <a:srgbClr val="162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3337560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</a:rPr>
              <a:t>Contact</a:t>
            </a:r>
            <a:endParaRPr sz="1400" b="1" i="0">
              <a:solidFill>
                <a:srgbClr val="00B4D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83280" y="3749039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Email:   zivoouma@gmail.com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83280" y="411480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GitHub:  github.com/zivodvok2/QC-Engine-desktop</a:t>
            </a:r>
            <a:endParaRPr sz="1300" b="0" i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3280" y="44805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B4D8"/>
                </a:solidFill>
              </a:rPr>
              <a:t>Live:    servalab.com</a:t>
            </a:r>
            <a:endParaRPr sz="1300" b="0" i="0">
              <a:solidFill>
                <a:srgbClr val="00B4D8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5585</Words>
  <Application>WPS Presentation</Application>
  <PresentationFormat>On-screen Show (4:3)</PresentationFormat>
  <Paragraphs>340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SimSun</vt:lpstr>
      <vt:lpstr>Wingdings</vt:lpstr>
      <vt:lpstr>Arial</vt:lpstr>
      <vt:lpstr>Calibri</vt:lpstr>
      <vt:lpstr>DejaVu Sans</vt:lpstr>
      <vt:lpstr>微软雅黑</vt:lpstr>
      <vt:lpstr>Droid Sans Fallback</vt:lpstr>
      <vt:lpstr>Arial Unicode MS</vt:lpstr>
      <vt:lpstr>Noto Sans Symbols2</vt:lpstr>
      <vt:lpstr>Ubuntu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dvock</cp:lastModifiedBy>
  <cp:revision>2</cp:revision>
  <dcterms:created xsi:type="dcterms:W3CDTF">2026-06-08T17:52:02Z</dcterms:created>
  <dcterms:modified xsi:type="dcterms:W3CDTF">2026-06-08T17:52:02Z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1033-10.1.0.6757</vt:lpwstr>
  </property>
</Properties>
</file>